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74720"/>
            <a:ext cx="12191695" cy="73152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40080"/>
            <a:ext cx="3017520" cy="411480"/>
          </a:xfrm>
          <a:prstGeom prst="roundRect">
            <a:avLst>
              <a:gd name="adj" fmla="val 12000"/>
            </a:avLst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B.TECH CE  •  SEMESTER VI  •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Adaptive TCP Congestion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B8D4F5"/>
                </a:solidFill>
                <a:latin typeface="Calibri"/>
              </a:rPr>
              <a:t>using Deep Reinforcement 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1097280" cy="4572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8AA6"/>
                </a:solidFill>
                <a:latin typeface="Calibri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Jewel Bhannvadiya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416966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0B2A4A"/>
                </a:solidFill>
                <a:latin typeface="Calibri"/>
              </a:rPr>
              <a:t>CE-065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988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Archi Patel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455371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0B2A4A"/>
                </a:solidFill>
                <a:latin typeface="Calibri"/>
              </a:rPr>
              <a:t>CE-087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8289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Henil Suchak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49377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0B2A4A"/>
                </a:solidFill>
                <a:latin typeface="Calibri"/>
              </a:rPr>
              <a:t>CE-148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3749039"/>
            <a:ext cx="457200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3749039"/>
            <a:ext cx="73152" cy="2468880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931919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8AA6"/>
                </a:solidFill>
                <a:latin typeface="Calibri"/>
              </a:rPr>
              <a:t>GUIDED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251959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Prof. Bhavika M. Gambhava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754879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8AA6"/>
                </a:solidFill>
                <a:latin typeface="Calibri"/>
              </a:rPr>
              <a:t>SUBJECT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074919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D3A"/>
                </a:solidFill>
                <a:latin typeface="Calibri"/>
              </a:rPr>
              <a:t>System Design Practice  (23CE625)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577839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Department of Computer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83387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E697A"/>
                </a:solidFill>
                <a:latin typeface="Calibri"/>
              </a:rPr>
              <a:t>Dharmsinh Desai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What we'll walk through today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2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63040"/>
            <a:ext cx="52120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60020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5544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Problem &amp; Motivation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90195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Why congestion control matters today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52120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60020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002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5544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TCP Fundamentals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90195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cwnd, RTT, packet loss in plain terms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423160"/>
            <a:ext cx="52120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256032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25146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Limitations of Classical Algorithms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28620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CUBIC, Reno and their blind spots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423160"/>
            <a:ext cx="52120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46520" y="256032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5146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Reinforcement Learning Approach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8620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Mapping TCP to an MDP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383280"/>
            <a:ext cx="52120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" y="352044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5204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34747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Soft Actor-Critic (SAC)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2219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Why this algorithm and how it learns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3383280"/>
            <a:ext cx="52120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46520" y="352044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5204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4747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System 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82219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ns-3 • Python • Spring Boot • React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343400"/>
            <a:ext cx="52120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77240" y="448056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480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44348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Implementation Details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8760" y="47823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Shared memory, training, reward design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4343400"/>
            <a:ext cx="52120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446520" y="448056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4480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44348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Live Dashboard Demo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47823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Real-time monitoring of SAC vs CUBIC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5303520"/>
            <a:ext cx="52120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77240" y="544068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8760" y="53949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08760" y="574243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What we achieved and what's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The core challenge in TCP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3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10972800" cy="109728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27632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8AA6"/>
                </a:solidFill>
                <a:latin typeface="Calibri"/>
              </a:rPr>
              <a:t>THE CORE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1">
                <a:solidFill>
                  <a:srgbClr val="FFFFFF"/>
                </a:solidFill>
                <a:latin typeface="Calibri"/>
              </a:rPr>
              <a:t>“How fast should a sender transmit data without overwhelming the network?”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7A17"/>
                </a:solidFill>
                <a:latin typeface="Calibri"/>
              </a:rPr>
              <a:t>LIMITATIONS OF CLASSICAL 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53035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8AA6"/>
                </a:solidFill>
                <a:latin typeface="Calibri"/>
              </a:rPr>
              <a:t>●  </a:t>
            </a:r>
            <a:r>
              <a:rPr sz="1300" b="1">
                <a:solidFill>
                  <a:srgbClr val="0B2A4A"/>
                </a:solidFill>
                <a:latin typeface="Calibri"/>
              </a:rPr>
              <a:t>Fixed rules: </a:t>
            </a:r>
            <a:r>
              <a:rPr sz="1300">
                <a:solidFill>
                  <a:srgbClr val="252D3A"/>
                </a:solidFill>
                <a:latin typeface="Calibri"/>
              </a:rPr>
              <a:t>CUBIC / Reno use hand-tuned formulas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8AA6"/>
                </a:solidFill>
                <a:latin typeface="Calibri"/>
              </a:rPr>
              <a:t>●  </a:t>
            </a:r>
            <a:r>
              <a:rPr sz="1300" b="1">
                <a:solidFill>
                  <a:srgbClr val="0B2A4A"/>
                </a:solidFill>
                <a:latin typeface="Calibri"/>
              </a:rPr>
              <a:t>React, don't predict: </a:t>
            </a:r>
            <a:r>
              <a:rPr sz="1300">
                <a:solidFill>
                  <a:srgbClr val="252D3A"/>
                </a:solidFill>
                <a:latin typeface="Calibri"/>
              </a:rPr>
              <a:t>only respond after packet loss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8AA6"/>
                </a:solidFill>
                <a:latin typeface="Calibri"/>
              </a:rPr>
              <a:t>●  </a:t>
            </a:r>
            <a:r>
              <a:rPr sz="1300" b="1">
                <a:solidFill>
                  <a:srgbClr val="0B2A4A"/>
                </a:solidFill>
                <a:latin typeface="Calibri"/>
              </a:rPr>
              <a:t>Single signal: </a:t>
            </a:r>
            <a:r>
              <a:rPr sz="1300">
                <a:solidFill>
                  <a:srgbClr val="252D3A"/>
                </a:solidFill>
                <a:latin typeface="Calibri"/>
              </a:rPr>
              <a:t>loss is the only input used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8AA6"/>
                </a:solidFill>
                <a:latin typeface="Calibri"/>
              </a:rPr>
              <a:t>●  </a:t>
            </a:r>
            <a:r>
              <a:rPr sz="1300" b="1">
                <a:solidFill>
                  <a:srgbClr val="0B2A4A"/>
                </a:solidFill>
                <a:latin typeface="Calibri"/>
              </a:rPr>
              <a:t>Static: </a:t>
            </a:r>
            <a:r>
              <a:rPr sz="1300">
                <a:solidFill>
                  <a:srgbClr val="252D3A"/>
                </a:solidFill>
                <a:latin typeface="Calibri"/>
              </a:rPr>
              <a:t>one algorithm fits every network type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8AA6"/>
                </a:solidFill>
                <a:latin typeface="Calibri"/>
              </a:rPr>
              <a:t>●  </a:t>
            </a:r>
            <a:r>
              <a:rPr sz="1300" b="1">
                <a:solidFill>
                  <a:srgbClr val="0B2A4A"/>
                </a:solidFill>
                <a:latin typeface="Calibri"/>
              </a:rPr>
              <a:t>Loss-blind: </a:t>
            </a:r>
            <a:r>
              <a:rPr sz="1300">
                <a:solidFill>
                  <a:srgbClr val="252D3A"/>
                </a:solidFill>
                <a:latin typeface="Calibri"/>
              </a:rPr>
              <a:t>can't tell random loss from congestion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834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8AA6"/>
                </a:solidFill>
                <a:latin typeface="Calibri"/>
              </a:rPr>
              <a:t>OUR GOAL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246120"/>
            <a:ext cx="530352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246120"/>
            <a:ext cx="5303520" cy="64008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4290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Learning-based adaptive 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886200"/>
            <a:ext cx="48463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0">
                <a:solidFill>
                  <a:srgbClr val="252D3A"/>
                </a:solidFill>
                <a:latin typeface="Calibri"/>
              </a:rPr>
              <a:t>Learns from experience, not hand-coded rules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0">
                <a:solidFill>
                  <a:srgbClr val="252D3A"/>
                </a:solidFill>
                <a:latin typeface="Calibri"/>
              </a:rPr>
              <a:t>Uses multiple signals: RTT, throughput, cwnd, loss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0">
                <a:solidFill>
                  <a:srgbClr val="252D3A"/>
                </a:solidFill>
                <a:latin typeface="Calibri"/>
              </a:rPr>
              <a:t>Adapts in real-time to changing conditions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0">
                <a:solidFill>
                  <a:srgbClr val="252D3A"/>
                </a:solidFill>
                <a:latin typeface="Calibri"/>
              </a:rPr>
              <a:t>Robust against non-congestion packet loss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Why Does This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Poor congestion control hurts real users every day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4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35661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73152" cy="109728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0B2A4A"/>
                </a:solidFill>
                <a:latin typeface="Calibri"/>
              </a:rPr>
              <a:t>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6459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Video Streaming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057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Buffering, quality drops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508760"/>
            <a:ext cx="35661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508760"/>
            <a:ext cx="73152" cy="109728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645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0B2A4A"/>
                </a:solidFill>
                <a:latin typeface="Calibri"/>
              </a:rPr>
              <a:t>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6459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Video 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057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Latency spikes, stutter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508760"/>
            <a:ext cx="35661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508760"/>
            <a:ext cx="73152" cy="109728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645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0B2A4A"/>
                </a:solidFill>
                <a:latin typeface="Calibri"/>
              </a:rPr>
              <a:t>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16459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Online Gaming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057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Lag, disconnections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834640"/>
            <a:ext cx="35661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2834640"/>
            <a:ext cx="73152" cy="109728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971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0B2A4A"/>
                </a:solidFill>
                <a:latin typeface="Calibri"/>
              </a:rPr>
              <a:t>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29718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Large Downloads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3383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Wasted bandwidth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2834640"/>
            <a:ext cx="35661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2834640"/>
            <a:ext cx="73152" cy="109728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2971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0B2A4A"/>
                </a:solidFill>
                <a:latin typeface="Calibri"/>
              </a:rPr>
              <a:t>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29718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Data Centers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383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Incast collapse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2834640"/>
            <a:ext cx="35661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2834640"/>
            <a:ext cx="73152" cy="109728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2971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0B2A4A"/>
                </a:solidFill>
                <a:latin typeface="Calibri"/>
              </a:rPr>
              <a:t>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29718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5G / Satellite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3383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Highly dynamic links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120640"/>
            <a:ext cx="10972800" cy="109728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257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7A17"/>
                </a:solidFill>
                <a:latin typeface="Calibri"/>
              </a:rPr>
              <a:t>KEY INSIGHT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532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Networks today are highly diverse — 5G, satellite, Wi-Fi, data-center fabrics.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8D4F5"/>
                </a:solidFill>
                <a:latin typeface="Calibri"/>
              </a:rPr>
              <a:t>A single fixed rule cannot perform optimally across all of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Background — What is TCP?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The protocol that carries most of the internet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5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26974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2697480" cy="73152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305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Lost packets are retransmitted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508760"/>
            <a:ext cx="26974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1508760"/>
            <a:ext cx="2697480" cy="73152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6916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Ordering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1305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Packets arrive in sequence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508760"/>
            <a:ext cx="26974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508760"/>
            <a:ext cx="2697480" cy="73152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6916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Flow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305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Don't overwhelm the receiver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508760"/>
            <a:ext cx="26974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508760"/>
            <a:ext cx="2697480" cy="73152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6916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Congestion Ctrl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1305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A"/>
                </a:solidFill>
                <a:latin typeface="Calibri"/>
              </a:rPr>
              <a:t>Don't overwhelm the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7A17"/>
                </a:solidFill>
                <a:latin typeface="Calibri"/>
              </a:rPr>
              <a:t>THE KEY VARIABLE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291840"/>
            <a:ext cx="10972800" cy="109728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429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8AA6"/>
                </a:solidFill>
                <a:latin typeface="Calibri"/>
              </a:rPr>
              <a:t>Congestion Window  (cwnd)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7033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onsolas"/>
              </a:rPr>
              <a:t>cwnd  =  bytes allowed “in flight” (sent but not yet acknowledged)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61772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8AA6"/>
                </a:solidFill>
                <a:latin typeface="Calibri"/>
              </a:rPr>
              <a:t>●  </a:t>
            </a:r>
            <a:r>
              <a:rPr sz="1300" b="1">
                <a:solidFill>
                  <a:srgbClr val="0B2A4A"/>
                </a:solidFill>
                <a:latin typeface="Calibri"/>
              </a:rPr>
              <a:t>cwnd grows </a:t>
            </a:r>
            <a:r>
              <a:rPr sz="1300">
                <a:solidFill>
                  <a:srgbClr val="252D3A"/>
                </a:solidFill>
                <a:latin typeface="Calibri"/>
              </a:rPr>
              <a:t>on every successful ACK — sender can push faster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8AA6"/>
                </a:solidFill>
                <a:latin typeface="Calibri"/>
              </a:rPr>
              <a:t>●  </a:t>
            </a:r>
            <a:r>
              <a:rPr sz="1300" b="1">
                <a:solidFill>
                  <a:srgbClr val="0B2A4A"/>
                </a:solidFill>
                <a:latin typeface="Calibri"/>
              </a:rPr>
              <a:t>cwnd shrinks </a:t>
            </a:r>
            <a:r>
              <a:rPr sz="1300">
                <a:solidFill>
                  <a:srgbClr val="252D3A"/>
                </a:solidFill>
                <a:latin typeface="Calibri"/>
              </a:rPr>
              <a:t>on packet loss — sender must slow down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8AA6"/>
                </a:solidFill>
                <a:latin typeface="Calibri"/>
              </a:rPr>
              <a:t>●  </a:t>
            </a:r>
            <a:r>
              <a:rPr sz="1300" b="1">
                <a:solidFill>
                  <a:srgbClr val="0B2A4A"/>
                </a:solidFill>
                <a:latin typeface="Calibri"/>
              </a:rPr>
              <a:t>The entire congestion-control game is: </a:t>
            </a:r>
            <a:r>
              <a:rPr sz="1300">
                <a:solidFill>
                  <a:srgbClr val="252D3A"/>
                </a:solidFill>
                <a:latin typeface="Calibri"/>
              </a:rPr>
              <a:t>how to grow cwnd and how much to cut it on loss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How Congestion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Bottleneck links, finite queues, and packet loss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6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Sender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(fast)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560320"/>
            <a:ext cx="3200400" cy="109728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5603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Router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(bottleneck link)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840480"/>
            <a:ext cx="3200400" cy="731520"/>
          </a:xfrm>
          <a:prstGeom prst="roundRect">
            <a:avLst>
              <a:gd name="adj" fmla="val 12000"/>
            </a:avLst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384048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Queue fills up  →  packets drop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56032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56032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Receiver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(slow link)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88920" y="3108960"/>
            <a:ext cx="1280160" cy="0"/>
          </a:xfrm>
          <a:prstGeom prst="line">
            <a:avLst/>
          </a:prstGeom>
          <a:ln w="31750">
            <a:solidFill>
              <a:srgbClr val="252D3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60920" y="3108960"/>
            <a:ext cx="1280160" cy="0"/>
          </a:xfrm>
          <a:prstGeom prst="line">
            <a:avLst/>
          </a:prstGeom>
          <a:ln w="31750">
            <a:solidFill>
              <a:srgbClr val="252D3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7A17"/>
                </a:solidFill>
                <a:latin typeface="Calibri"/>
              </a:rPr>
              <a:t>WHAT THE SENDER OBSERVES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120640"/>
            <a:ext cx="36118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120640"/>
            <a:ext cx="73152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RTT rises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235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Packets queued → longer round-trip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5120640"/>
            <a:ext cx="36118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5120640"/>
            <a:ext cx="73152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5257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Loss appears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6235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Queue overflows → router drops packets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5120640"/>
            <a:ext cx="36118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5120640"/>
            <a:ext cx="73152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5257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Throughput stalls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6235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Link saturated → no gain from sending faster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Traditional Algorithms — Reno &amp; CUBIC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Hand-tuned rules that have served us since 1990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7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534924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5349240" cy="502920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TCP Reno  (1990)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E8AA6"/>
                </a:solidFill>
                <a:latin typeface="Calibri"/>
              </a:rPr>
              <a:t>Additive Increase / Multiplicative Decrease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800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Increase: </a:t>
            </a:r>
            <a:r>
              <a:rPr sz="1200">
                <a:solidFill>
                  <a:srgbClr val="252D3A"/>
                </a:solidFill>
                <a:latin typeface="Calibri"/>
              </a:rPr>
              <a:t>cwnd += 1 segment per RTT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On loss:  </a:t>
            </a:r>
            <a:r>
              <a:rPr sz="1200">
                <a:solidFill>
                  <a:srgbClr val="252D3A"/>
                </a:solidFill>
                <a:latin typeface="Calibri"/>
              </a:rPr>
              <a:t>cwnd  =  cwnd / 2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>
                <a:solidFill>
                  <a:srgbClr val="252D3A"/>
                </a:solidFill>
                <a:latin typeface="Calibri"/>
              </a:rPr>
              <a:t>Simple, predictable sawtooth pattern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>
                <a:solidFill>
                  <a:srgbClr val="252D3A"/>
                </a:solidFill>
                <a:latin typeface="Calibri"/>
              </a:rPr>
              <a:t>Too slow on high-bandwidth × delay links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534924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08760"/>
            <a:ext cx="534924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TCP CUBIC  (Linux default, 2006)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E8AA6"/>
                </a:solidFill>
                <a:latin typeface="Calibri"/>
              </a:rPr>
              <a:t>cwnd grows as a cubic function of time since last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606040"/>
            <a:ext cx="4800600" cy="640080"/>
          </a:xfrm>
          <a:prstGeom prst="roundRect">
            <a:avLst>
              <a:gd name="adj" fmla="val 12000"/>
            </a:avLst>
          </a:prstGeom>
          <a:solidFill>
            <a:srgbClr val="10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69748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E6EAF0"/>
                </a:solidFill>
                <a:latin typeface="Consolas"/>
              </a:rPr>
              <a:t>W(t)  =  C · (t − K)³  +  W_max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83279"/>
            <a:ext cx="48006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>
                <a:solidFill>
                  <a:srgbClr val="252D3A"/>
                </a:solidFill>
                <a:latin typeface="Calibri"/>
              </a:rPr>
              <a:t>RTT-independent growth — fair across delays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>
                <a:solidFill>
                  <a:srgbClr val="252D3A"/>
                </a:solidFill>
                <a:latin typeface="Calibri"/>
              </a:rPr>
              <a:t>Fast recovery after loss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>
                <a:solidFill>
                  <a:srgbClr val="252D3A"/>
                </a:solidFill>
                <a:latin typeface="Calibri"/>
              </a:rPr>
              <a:t>Still reacts only after loss occurs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49240"/>
            <a:ext cx="10972800" cy="86868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7A17"/>
                </a:solidFill>
                <a:latin typeface="Calibri"/>
              </a:rPr>
              <a:t>COMMON LIMITATION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Both react only AFTER loss — by then the queue is already full.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The CUBIC Sawtooth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How cwnd behaves over time — and what's wrong with 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8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685800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80160" y="2011680"/>
            <a:ext cx="6000" cy="3383280"/>
          </a:xfrm>
          <a:prstGeom prst="rect">
            <a:avLst/>
          </a:prstGeom>
          <a:solidFill>
            <a:srgbClr val="252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0160" y="5394960"/>
            <a:ext cx="5943600" cy="6000"/>
          </a:xfrm>
          <a:prstGeom prst="rect">
            <a:avLst/>
          </a:prstGeom>
          <a:solidFill>
            <a:srgbClr val="252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cwnd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4681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time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280160.0" y="3840480"/>
            <a:ext cx="792480.0" cy="1554480"/>
          </a:xfrm>
          <a:prstGeom prst="line">
            <a:avLst/>
          </a:prstGeom>
          <a:ln w="38100">
            <a:solidFill>
              <a:srgbClr val="1E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072640.0" y="2286000"/>
            <a:ext cx="891540.0" cy="1554480"/>
          </a:xfrm>
          <a:prstGeom prst="line">
            <a:avLst/>
          </a:prstGeom>
          <a:ln w="38100">
            <a:solidFill>
              <a:srgbClr val="1E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964180.0" y="2286000"/>
            <a:ext cx="0.0" cy="201168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900172" y="2221992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964180.0" y="4297680"/>
            <a:ext cx="297180.0" cy="1097280"/>
          </a:xfrm>
          <a:prstGeom prst="line">
            <a:avLst/>
          </a:prstGeom>
          <a:ln w="38100">
            <a:solidFill>
              <a:srgbClr val="1E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44140" y="1828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LOSS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261360.0" y="3840480"/>
            <a:ext cx="792480.0" cy="1554480"/>
          </a:xfrm>
          <a:prstGeom prst="line">
            <a:avLst/>
          </a:prstGeom>
          <a:ln w="38100">
            <a:solidFill>
              <a:srgbClr val="1E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053840.0" y="2286000"/>
            <a:ext cx="891540.0" cy="1554480"/>
          </a:xfrm>
          <a:prstGeom prst="line">
            <a:avLst/>
          </a:prstGeom>
          <a:ln w="38100">
            <a:solidFill>
              <a:srgbClr val="1E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45380.0" y="2286000"/>
            <a:ext cx="0.0" cy="201168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881372" y="2221992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945380.0" y="4297680"/>
            <a:ext cx="297180.0" cy="1097280"/>
          </a:xfrm>
          <a:prstGeom prst="line">
            <a:avLst/>
          </a:prstGeom>
          <a:ln w="38100">
            <a:solidFill>
              <a:srgbClr val="1E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25340" y="1828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LOSS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5242560.0" y="3840480"/>
            <a:ext cx="792480.0" cy="1554480"/>
          </a:xfrm>
          <a:prstGeom prst="line">
            <a:avLst/>
          </a:prstGeom>
          <a:ln w="38100">
            <a:solidFill>
              <a:srgbClr val="1E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035040.0" y="2286000"/>
            <a:ext cx="891540.0" cy="1554480"/>
          </a:xfrm>
          <a:prstGeom prst="line">
            <a:avLst/>
          </a:prstGeom>
          <a:ln w="38100">
            <a:solidFill>
              <a:srgbClr val="1E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26580.0" y="2286000"/>
            <a:ext cx="0.0" cy="201168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862572" y="2221992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926580.0" y="4297680"/>
            <a:ext cx="297180.0" cy="1097280"/>
          </a:xfrm>
          <a:prstGeom prst="line">
            <a:avLst/>
          </a:prstGeom>
          <a:ln w="38100">
            <a:solidFill>
              <a:srgbClr val="1E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06540" y="1828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LOSS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15544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7A17"/>
                </a:solidFill>
                <a:latin typeface="Calibri"/>
              </a:rPr>
              <a:t>CHARACTERISTICS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1965960"/>
            <a:ext cx="4114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Aggressive growth: </a:t>
            </a:r>
            <a:r>
              <a:rPr sz="1200">
                <a:solidFill>
                  <a:srgbClr val="252D3A"/>
                </a:solidFill>
                <a:latin typeface="Calibri"/>
              </a:rPr>
              <a:t>cubic curve probes bandwidth fast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Sharp drop: </a:t>
            </a:r>
            <a:r>
              <a:rPr sz="1200">
                <a:solidFill>
                  <a:srgbClr val="252D3A"/>
                </a:solidFill>
                <a:latin typeface="Calibri"/>
              </a:rPr>
              <a:t>cwnd ×0.7 on every loss event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Loss-triggered: </a:t>
            </a:r>
            <a:r>
              <a:rPr sz="1200">
                <a:solidFill>
                  <a:srgbClr val="252D3A"/>
                </a:solidFill>
                <a:latin typeface="Calibri"/>
              </a:rPr>
              <a:t>only reacts after damage is done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Loss-blind: </a:t>
            </a:r>
            <a:r>
              <a:rPr sz="1200">
                <a:solidFill>
                  <a:srgbClr val="252D3A"/>
                </a:solidFill>
                <a:latin typeface="Calibri"/>
              </a:rPr>
              <a:t>can't tell random from congestion loss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Bufferbloat: </a:t>
            </a:r>
            <a:r>
              <a:rPr sz="1200">
                <a:solidFill>
                  <a:srgbClr val="252D3A"/>
                </a:solidFill>
                <a:latin typeface="Calibri"/>
              </a:rPr>
              <a:t>RTT rises steadily before each drop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Why Reinforcement Learning?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TCP congestion control is a textbook sequential decision problem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9 / 27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08760"/>
          <a:ext cx="6949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50292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RL Concept</a:t>
                      </a:r>
                    </a:p>
                  </a:txBody>
                  <a:tcPr marL="91440" marR="91440" marT="36576" marB="36576">
                    <a:solidFill>
                      <a:srgbClr val="0B2A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91440" marR="91440" marT="36576" marB="36576">
                    <a:solidFill>
                      <a:srgbClr val="0B2A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TCP Mapping</a:t>
                      </a:r>
                    </a:p>
                  </a:txBody>
                  <a:tcPr marL="91440" marR="91440" marT="36576" marB="36576">
                    <a:solidFill>
                      <a:srgbClr val="0B2A4A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252D3A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Decision maker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The TCP sender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252D3A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World the agent acts in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The network (ns-3)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252D3A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What the agent observes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RTT, throughput, cwnd, loss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252D3A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What the agent does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Adjust cwnd (scale factor)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252D3A"/>
                          </a:solidFill>
                          <a:latin typeface="Calibri"/>
                        </a:rPr>
                        <a:t>Reward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Scalar feedback signal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High throughput, low RTT, no loss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63840" y="15087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7A17"/>
                </a:solidFill>
                <a:latin typeface="Calibri"/>
              </a:rPr>
              <a:t>KEY 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92024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0">
                <a:solidFill>
                  <a:srgbClr val="252D3A"/>
                </a:solidFill>
                <a:latin typeface="Calibri"/>
              </a:rPr>
              <a:t>Learns optimal behavior from experience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0">
                <a:solidFill>
                  <a:srgbClr val="252D3A"/>
                </a:solidFill>
                <a:latin typeface="Calibri"/>
              </a:rPr>
              <a:t>Combines multiple signals, not just loss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0">
                <a:solidFill>
                  <a:srgbClr val="252D3A"/>
                </a:solidFill>
                <a:latin typeface="Calibri"/>
              </a:rPr>
              <a:t>Can anticipate congestion — act before loss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0">
                <a:solidFill>
                  <a:srgbClr val="252D3A"/>
                </a:solidFill>
                <a:latin typeface="Calibri"/>
              </a:rPr>
              <a:t>Generalizes to unseen network conditions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0">
                <a:solidFill>
                  <a:srgbClr val="252D3A"/>
                </a:solidFill>
                <a:latin typeface="Calibri"/>
              </a:rPr>
              <a:t>Improves automatically with more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120640"/>
            <a:ext cx="10972800" cy="109728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8AA6"/>
                </a:solidFill>
                <a:latin typeface="Calibri"/>
              </a:rPr>
              <a:t>THE INTUITION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Instead of hand-coding rules, the agent discovers them by trial and feedback.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33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8D4F5"/>
                </a:solidFill>
                <a:latin typeface="Calibri"/>
              </a:rPr>
              <a:t>Good actions raise reward; bad ones lower it. The policy drifts toward good.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Our MDP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The exact state, action, and normalization we use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10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8AA6"/>
                </a:solidFill>
                <a:latin typeface="Calibri"/>
              </a:rPr>
              <a:t>STATE SPACE  —  6 features, normalized to [0, 1]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874519"/>
          <a:ext cx="69494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444137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91440" marR="91440" marT="36576" marB="36576">
                    <a:solidFill>
                      <a:srgbClr val="0B2A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marT="36576" marB="36576">
                    <a:solidFill>
                      <a:srgbClr val="0B2A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Max Value</a:t>
                      </a:r>
                    </a:p>
                  </a:txBody>
                  <a:tcPr marL="91440" marR="91440" marT="36576" marB="36576">
                    <a:solidFill>
                      <a:srgbClr val="0B2A4A"/>
                    </a:solidFill>
                  </a:tcPr>
                </a:tc>
              </a:tr>
              <a:tr h="444137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252D3A"/>
                          </a:solidFill>
                          <a:latin typeface="Calibri"/>
                        </a:rPr>
                        <a:t>cwnd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252D3A"/>
                          </a:solidFill>
                          <a:latin typeface="Calibri"/>
                        </a:rPr>
                        <a:t>Congestion window (bytes)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252D3A"/>
                          </a:solidFill>
                          <a:latin typeface="Calibri"/>
                        </a:rPr>
                        <a:t>1,400,000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252D3A"/>
                          </a:solidFill>
                          <a:latin typeface="Calibri"/>
                        </a:rPr>
                        <a:t>rtt_us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252D3A"/>
                          </a:solidFill>
                          <a:latin typeface="Calibri"/>
                        </a:rPr>
                        <a:t>Round-trip time (µs)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252D3A"/>
                          </a:solidFill>
                          <a:latin typeface="Calibri"/>
                        </a:rPr>
                        <a:t>200,000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</a:tr>
              <a:tr h="444137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252D3A"/>
                          </a:solidFill>
                          <a:latin typeface="Calibri"/>
                        </a:rPr>
                        <a:t>throughput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252D3A"/>
                          </a:solidFill>
                          <a:latin typeface="Calibri"/>
                        </a:rPr>
                        <a:t>Bytes / second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252D3A"/>
                          </a:solidFill>
                          <a:latin typeface="Calibri"/>
                        </a:rPr>
                        <a:t>250,000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252D3A"/>
                          </a:solidFill>
                          <a:latin typeface="Calibri"/>
                        </a:rPr>
                        <a:t>packetLoss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252D3A"/>
                          </a:solidFill>
                          <a:latin typeface="Calibri"/>
                        </a:rPr>
                        <a:t>Loss count in interval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252D3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</a:tr>
              <a:tr h="444137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252D3A"/>
                          </a:solidFill>
                          <a:latin typeface="Calibri"/>
                        </a:rPr>
                        <a:t>segmentSize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252D3A"/>
                          </a:solidFill>
                          <a:latin typeface="Calibri"/>
                        </a:rPr>
                        <a:t>TCP segment size (bytes)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252D3A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252D3A"/>
                          </a:solidFill>
                          <a:latin typeface="Calibri"/>
                        </a:rPr>
                        <a:t>bytesInFlight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252D3A"/>
                          </a:solidFill>
                          <a:latin typeface="Calibri"/>
                        </a:rPr>
                        <a:t>Outstanding unACKed bytes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252D3A"/>
                          </a:solidFill>
                          <a:latin typeface="Calibri"/>
                        </a:rPr>
                        <a:t>1,400,000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818120" y="14630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7A17"/>
                </a:solidFill>
                <a:latin typeface="Calibri"/>
              </a:rPr>
              <a:t>ACTION SPACE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74520"/>
            <a:ext cx="39319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874520"/>
            <a:ext cx="73152" cy="1188720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96596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Continuous factor ∈ [ 0.8, 1.2 ]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37744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2D3A"/>
                </a:solidFill>
                <a:latin typeface="Calibri"/>
              </a:rPr>
              <a:t>Scales cwnd by ±20 % each step —</a:t>
            </a:r>
          </a:p>
          <a:p>
            <a:pPr algn="l"/>
            <a:r>
              <a:rPr sz="1100" b="0" i="1">
                <a:solidFill>
                  <a:srgbClr val="252D3A"/>
                </a:solidFill>
                <a:latin typeface="Calibri"/>
              </a:rPr>
              <a:t>smooth, scale-free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3246120"/>
            <a:ext cx="3931920" cy="109728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333755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8AA6"/>
                </a:solidFill>
                <a:latin typeface="Calibri"/>
              </a:rPr>
              <a:t>UPDATE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61188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new_cwnd = cwnd ×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4526280"/>
            <a:ext cx="3931920" cy="548640"/>
          </a:xfrm>
          <a:prstGeom prst="roundRect">
            <a:avLst>
              <a:gd name="adj" fmla="val 12000"/>
            </a:avLst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52628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Step interval:  10 ms (simulated time)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E697A"/>
                </a:solidFill>
                <a:latin typeface="Calibri"/>
              </a:rPr>
              <a:t>Normalization ensures every feature contributes on the same scale — without it, the larger-magnitude inputs (e.g. cwnd in bytes) would dominate the neural network and small-but-important features (e.g. loss count) would be ignored.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Reward Function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A single scalar that balances throughput, latency and loss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11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54864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73152" cy="1005840"/>
          </a:xfrm>
          <a:prstGeom prst="rect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691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6002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Throughput 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90195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E8AA6"/>
                </a:solidFill>
                <a:latin typeface="Consolas"/>
              </a:rPr>
              <a:t>√(throughput / T_max)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16712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E697A"/>
                </a:solidFill>
                <a:latin typeface="Calibri"/>
              </a:rPr>
              <a:t>Concave — diminishing returns stop the agent from being greedy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08760"/>
            <a:ext cx="54864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508760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1691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691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6002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RTT penalty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190195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E8AA6"/>
                </a:solidFill>
                <a:latin typeface="Consolas"/>
              </a:rPr>
              <a:t>((RTT − RTT_min) / 400k)² × 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16712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E697A"/>
                </a:solidFill>
                <a:latin typeface="Calibri"/>
              </a:rPr>
              <a:t>Quadratic — strongly discourages buffer bloat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697480"/>
            <a:ext cx="54864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697480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27889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Loss penalty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09067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E8AA6"/>
                </a:solidFill>
                <a:latin typeface="Consolas"/>
              </a:rPr>
              <a:t>0.3 + 0.05 × loss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3558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E697A"/>
                </a:solidFill>
                <a:latin typeface="Calibri"/>
              </a:rPr>
              <a:t>Cliff penalty — discrete, triggered on any loss event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697480"/>
            <a:ext cx="54864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2697480"/>
            <a:ext cx="73152" cy="1005840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27889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Stability bonus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09067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E8AA6"/>
                </a:solidFill>
                <a:latin typeface="Consolas"/>
              </a:rPr>
              <a:t>0.1 × Gaussian(cwnd ≈ BDP)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33558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E697A"/>
                </a:solidFill>
                <a:latin typeface="Calibri"/>
              </a:rPr>
              <a:t>Nudges the policy toward the ideal operating point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251960"/>
            <a:ext cx="10972800" cy="100584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37083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8AA6"/>
                </a:solidFill>
                <a:latin typeface="Calibri"/>
              </a:rPr>
              <a:t>FINAL REWARD  =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61772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+ throughput_term  −  rtt_penalty  −  loss_penalty  +  stability_bonus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486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E697A"/>
                </a:solidFill>
                <a:latin typeface="Calibri"/>
              </a:rPr>
              <a:t>The reward is computed every 10 ms and clipped to [−2, 1.1]. Over training the agent learns that keeping RTT low near the BDP gives a better return than greedily maximising raw throughput.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Why Soft Actor-Critic (SAC)?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The right RL algorithm for continuous, safety-sensitive control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12 / 27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0876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12064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91440" marR="91440" marT="36576" marB="36576">
                    <a:solidFill>
                      <a:srgbClr val="0B2A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DQN</a:t>
                      </a:r>
                    </a:p>
                  </a:txBody>
                  <a:tcPr marL="91440" marR="91440" marT="36576" marB="36576">
                    <a:solidFill>
                      <a:srgbClr val="0B2A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PPO</a:t>
                      </a:r>
                    </a:p>
                  </a:txBody>
                  <a:tcPr marL="91440" marR="91440" marT="36576" marB="36576">
                    <a:solidFill>
                      <a:srgbClr val="0B2A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SAC ✓</a:t>
                      </a:r>
                    </a:p>
                  </a:txBody>
                  <a:tcPr marL="91440" marR="91440" marT="36576" marB="36576">
                    <a:solidFill>
                      <a:srgbClr val="0B2A4A"/>
                    </a:solidFill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252D3A"/>
                          </a:solidFill>
                          <a:latin typeface="Calibri"/>
                        </a:rPr>
                        <a:t>Action Space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Discrete only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F8A4C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252D3A"/>
                          </a:solidFill>
                          <a:latin typeface="Calibri"/>
                        </a:rPr>
                        <a:t>Sample Efficiency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Low (on-policy)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F8A4C"/>
                          </a:solidFill>
                          <a:latin typeface="Calibri"/>
                        </a:rPr>
                        <a:t>High (off-policy)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252D3A"/>
                          </a:solidFill>
                          <a:latin typeface="Calibri"/>
                        </a:rPr>
                        <a:t>Exploration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ε-greedy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Stochastic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F8A4C"/>
                          </a:solidFill>
                          <a:latin typeface="Calibri"/>
                        </a:rPr>
                        <a:t>Entropy bonus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252D3A"/>
                          </a:solidFill>
                          <a:latin typeface="Calibri"/>
                        </a:rPr>
                        <a:t>Training Stability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Sensitive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F8A4C"/>
                          </a:solidFill>
                          <a:latin typeface="Calibri"/>
                        </a:rPr>
                        <a:t>Very stable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480560"/>
            <a:ext cx="3611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80560"/>
            <a:ext cx="73152" cy="146304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Continuous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cwnd factor ∈ [0.8, 1.2] — DQN cannot represent this.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480560"/>
            <a:ext cx="3611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4480560"/>
            <a:ext cx="73152" cy="146304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6634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Off-Policy Replay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07492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Every experience is re-used many times — precious in simulation.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480560"/>
            <a:ext cx="3611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4480560"/>
            <a:ext cx="73152" cy="146304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6634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Entropy Exploration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07492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Keeps the policy curious; prevents premature convergence.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SAC Algorithm — Actor &amp; Critic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Two neural networks cooperate to learn a good policy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13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53949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5394960" cy="50292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ACTOR  (π)   —   “What to do”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48463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Input: </a:t>
            </a:r>
            <a:r>
              <a:rPr sz="1200">
                <a:solidFill>
                  <a:srgbClr val="252D3A"/>
                </a:solidFill>
                <a:latin typeface="Calibri"/>
              </a:rPr>
              <a:t>current state (6 features)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Output: </a:t>
            </a:r>
            <a:r>
              <a:rPr sz="1200">
                <a:solidFill>
                  <a:srgbClr val="252D3A"/>
                </a:solidFill>
                <a:latin typeface="Calibri"/>
              </a:rPr>
              <a:t>distribution over actions (Gaussian)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Trained: </a:t>
            </a:r>
            <a:r>
              <a:rPr sz="1200">
                <a:solidFill>
                  <a:srgbClr val="252D3A"/>
                </a:solidFill>
                <a:latin typeface="Calibri"/>
              </a:rPr>
              <a:t>to produce high-Q, high-entropy actions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At inference: </a:t>
            </a:r>
            <a:r>
              <a:rPr sz="1200">
                <a:solidFill>
                  <a:srgbClr val="252D3A"/>
                </a:solidFill>
                <a:latin typeface="Calibri"/>
              </a:rPr>
              <a:t>takes the mean (deterministic)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53949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539496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0876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CRITIC  (Q)   —   “How good”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40280"/>
            <a:ext cx="48463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Input: </a:t>
            </a:r>
            <a:r>
              <a:rPr sz="1200">
                <a:solidFill>
                  <a:srgbClr val="252D3A"/>
                </a:solidFill>
                <a:latin typeface="Calibri"/>
              </a:rPr>
              <a:t>state + action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Output: </a:t>
            </a:r>
            <a:r>
              <a:rPr sz="1200">
                <a:solidFill>
                  <a:srgbClr val="252D3A"/>
                </a:solidFill>
                <a:latin typeface="Calibri"/>
              </a:rPr>
              <a:t>Q-value  (expected long-term return)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Trained: </a:t>
            </a:r>
            <a:r>
              <a:rPr sz="1200">
                <a:solidFill>
                  <a:srgbClr val="252D3A"/>
                </a:solidFill>
                <a:latin typeface="Calibri"/>
              </a:rPr>
              <a:t>to minimise Bellman-equation error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Twin Qs: </a:t>
            </a:r>
            <a:r>
              <a:rPr sz="1200">
                <a:solidFill>
                  <a:srgbClr val="252D3A"/>
                </a:solidFill>
                <a:latin typeface="Calibri"/>
              </a:rPr>
              <a:t>two critics reduce over-estimation bias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92040"/>
            <a:ext cx="10972800" cy="132588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7A17"/>
                </a:solidFill>
                <a:latin typeface="Calibri"/>
              </a:rPr>
              <a:t>SAC OBJECTIVE  —  Maximum-Entropy 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8523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onsolas"/>
              </a:rPr>
              <a:t>J(π) = E [ Σₜ  rₜ  +  α · H(π(· | sₜ))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8D4F5"/>
                </a:solidFill>
                <a:latin typeface="Calibri"/>
              </a:rPr>
              <a:t>Reward  +  entropy bonus  →  stable learning and principled exploration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Neural Network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Same backbone used for both actor and critic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14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508760"/>
            <a:ext cx="50292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1508760"/>
            <a:ext cx="109728" cy="731520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6002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Input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89280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A"/>
                </a:solidFill>
                <a:latin typeface="Calibri"/>
              </a:rPr>
              <a:t>6 normalized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1691640"/>
            <a:ext cx="822960" cy="365760"/>
          </a:xfrm>
          <a:prstGeom prst="roundRect">
            <a:avLst>
              <a:gd name="adj" fmla="val 12000"/>
            </a:avLst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6916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86200.0" y="2240280"/>
            <a:ext cx="0.0" cy="228600"/>
          </a:xfrm>
          <a:prstGeom prst="line">
            <a:avLst/>
          </a:prstGeom>
          <a:ln w="19050">
            <a:solidFill>
              <a:srgbClr val="5E697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371600" y="2468880"/>
            <a:ext cx="50292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2468880"/>
            <a:ext cx="109728" cy="73152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2560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Dense  +  ReLU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85292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A"/>
                </a:solidFill>
                <a:latin typeface="Calibri"/>
              </a:rPr>
              <a:t>Fully connected, 256 units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2651760"/>
            <a:ext cx="822960" cy="365760"/>
          </a:xfrm>
          <a:prstGeom prst="roundRect">
            <a:avLst>
              <a:gd name="adj" fmla="val 12000"/>
            </a:avLst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26517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256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86200.0" y="3200400"/>
            <a:ext cx="0.0" cy="228600"/>
          </a:xfrm>
          <a:prstGeom prst="line">
            <a:avLst/>
          </a:prstGeom>
          <a:ln w="19050">
            <a:solidFill>
              <a:srgbClr val="5E697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371600" y="3429000"/>
            <a:ext cx="50292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71600" y="3429000"/>
            <a:ext cx="109728" cy="73152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35204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Dense  +  ReLU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81304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A"/>
                </a:solidFill>
                <a:latin typeface="Calibri"/>
              </a:rPr>
              <a:t>Fully connected, 256 units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0" y="3611880"/>
            <a:ext cx="822960" cy="365760"/>
          </a:xfrm>
          <a:prstGeom prst="roundRect">
            <a:avLst>
              <a:gd name="adj" fmla="val 12000"/>
            </a:avLst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36118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256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886200.0" y="4160520"/>
            <a:ext cx="0.0" cy="228600"/>
          </a:xfrm>
          <a:prstGeom prst="line">
            <a:avLst/>
          </a:prstGeom>
          <a:ln w="19050">
            <a:solidFill>
              <a:srgbClr val="5E697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371600" y="4389120"/>
            <a:ext cx="50292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71600" y="4389120"/>
            <a:ext cx="109728" cy="73152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44805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Dense  +  ReLU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477316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A"/>
                </a:solidFill>
                <a:latin typeface="Calibri"/>
              </a:rPr>
              <a:t>Fully connected, 128 units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94960" y="4572000"/>
            <a:ext cx="822960" cy="365760"/>
          </a:xfrm>
          <a:prstGeom prst="roundRect">
            <a:avLst>
              <a:gd name="adj" fmla="val 12000"/>
            </a:avLst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0" y="45720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128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.0" y="5120640"/>
            <a:ext cx="0.0" cy="228600"/>
          </a:xfrm>
          <a:prstGeom prst="line">
            <a:avLst/>
          </a:prstGeom>
          <a:ln w="19050">
            <a:solidFill>
              <a:srgbClr val="5E697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371600" y="5349240"/>
            <a:ext cx="50292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71600" y="5349240"/>
            <a:ext cx="109728" cy="731520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45920" y="544068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Output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573328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A"/>
                </a:solidFill>
                <a:latin typeface="Calibri"/>
              </a:rPr>
              <a:t>Action mean  +  log std-dev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94960" y="5532120"/>
            <a:ext cx="822960" cy="365760"/>
          </a:xfrm>
          <a:prstGeom prst="roundRect">
            <a:avLst>
              <a:gd name="adj" fmla="val 12000"/>
            </a:avLst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0" y="55321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1508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7A17"/>
                </a:solidFill>
                <a:latin typeface="Calibri"/>
              </a:rPr>
              <a:t>MODEL SPECIFICATIONS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0" y="196596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19659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Trainable parameters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19659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2A4A"/>
                </a:solidFill>
                <a:latin typeface="Calibri"/>
              </a:rPr>
              <a:t>≈ 200,000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89520" y="24688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0" y="2468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Activation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24688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2A4A"/>
                </a:solidFill>
                <a:latin typeface="Calibri"/>
              </a:rPr>
              <a:t>ReLU (hidden), tanh (output)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89520" y="297180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29718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Framework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29718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2A4A"/>
                </a:solidFill>
                <a:latin typeface="Calibri"/>
              </a:rPr>
              <a:t>PyTorch via stable-baselines3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89520" y="347472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0" y="34747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Optimizer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34747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2A4A"/>
                </a:solidFill>
                <a:latin typeface="Calibri"/>
              </a:rPr>
              <a:t>Adam,  lr = 3 × 10⁻⁴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89520" y="397764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0" y="39776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Discount factor 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0" y="39776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2A4A"/>
                </a:solidFill>
                <a:latin typeface="Calibri"/>
              </a:rPr>
              <a:t>0.99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89520" y="448056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0" y="4480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Replay buffer size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0" y="44805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2A4A"/>
                </a:solidFill>
                <a:latin typeface="Calibri"/>
              </a:rPr>
              <a:t>1,000,000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89520" y="49834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0" y="49834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Mini-batch size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520" y="49834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0B2A4A"/>
                </a:solidFill>
                <a:latin typeface="Calibri"/>
              </a:rPr>
              <a:t>256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Four cooperating layers, each with a specific job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15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08760"/>
            <a:ext cx="10332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508760"/>
            <a:ext cx="137160" cy="914400"/>
          </a:xfrm>
          <a:prstGeom prst="rect">
            <a:avLst/>
          </a:prstGeom>
          <a:solidFill>
            <a:srgbClr val="61D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6002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REACT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947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Live charts — RTT, Throughput, cwnd, Reward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945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E697A"/>
                </a:solidFill>
                <a:latin typeface="Calibri"/>
              </a:rPr>
              <a:t>Port 3000  •  Recharts  •  WebSocket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4144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0E8AA6"/>
                </a:solidFill>
                <a:latin typeface="Calibri"/>
              </a:rPr>
              <a:t>▲  STOMP / WebSocket  (real-time push)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651760"/>
            <a:ext cx="10332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651760"/>
            <a:ext cx="137160" cy="914400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7432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SPRING BOOT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90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REST API  •  H2 persistence  •  STOMP broadcast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3375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E697A"/>
                </a:solidFill>
                <a:latin typeface="Calibri"/>
              </a:rPr>
              <a:t>Port 8080  •  Java 17  •  /topic/metrics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58444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0E8AA6"/>
                </a:solidFill>
                <a:latin typeface="Calibri"/>
              </a:rPr>
              <a:t>▲  HTTP POST  /api/metrics  (JSON)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794760"/>
            <a:ext cx="10332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794760"/>
            <a:ext cx="137160" cy="914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38862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PYTHON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33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Loads SAC model  •  inference loop  •  posts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4805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E697A"/>
                </a:solidFill>
                <a:latin typeface="Calibri"/>
              </a:rPr>
              <a:t>stable-baselines3  •  PyTorch  •  10 ms step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72744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0E8AA6"/>
                </a:solidFill>
                <a:latin typeface="Calibri"/>
              </a:rPr>
              <a:t>▲  Shared memory  (ns3-ai, SHM id 2333)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937760"/>
            <a:ext cx="10332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4937760"/>
            <a:ext cx="137160" cy="91440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50292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NS-3 SIMULATOR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376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Dumbbell topology  •  TCP state machine  •  tracing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6235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E697A"/>
                </a:solidFill>
                <a:latin typeface="Calibri"/>
              </a:rPr>
              <a:t>C++ 17  •  ns-3.35  •  ns3-ai shared memory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Classical dumbbell — both algorithms share the bottleneck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16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109728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224028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402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SAC Sender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(Node 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70332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CUBIC Sender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(Node 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97180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97180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Router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297180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97180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Router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224028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22402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SAC Sink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(Node 4)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0" y="370332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370332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CUBIC Sink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(Node 5)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26080" y="2651760.0"/>
            <a:ext cx="1371600" cy="731520.0"/>
          </a:xfrm>
          <a:prstGeom prst="line">
            <a:avLst/>
          </a:prstGeom>
          <a:ln w="25400">
            <a:solidFill>
              <a:srgbClr val="252D3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926080" y="3383280.0"/>
            <a:ext cx="1371600" cy="731520.0"/>
          </a:xfrm>
          <a:prstGeom prst="line">
            <a:avLst/>
          </a:prstGeom>
          <a:ln w="25400">
            <a:solidFill>
              <a:srgbClr val="252D3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26480" y="3383280.0"/>
            <a:ext cx="1554480" cy="0.0"/>
          </a:xfrm>
          <a:prstGeom prst="line">
            <a:avLst/>
          </a:prstGeom>
          <a:ln w="50800">
            <a:solidFill>
              <a:srgbClr val="C0392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63640" y="28803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2 Mbps  /  20 ms  /  FqCoDel 100p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9509760" y="2651760.0"/>
            <a:ext cx="731520" cy="731520.0"/>
          </a:xfrm>
          <a:prstGeom prst="line">
            <a:avLst/>
          </a:prstGeom>
          <a:ln w="25400">
            <a:solidFill>
              <a:srgbClr val="252D3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509760" y="3383280.0"/>
            <a:ext cx="731520" cy="731520.0"/>
          </a:xfrm>
          <a:prstGeom prst="line">
            <a:avLst/>
          </a:prstGeom>
          <a:ln w="25400">
            <a:solidFill>
              <a:srgbClr val="252D3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017520" y="2377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E697A"/>
                </a:solidFill>
                <a:latin typeface="Calibri"/>
              </a:rPr>
              <a:t>10 Mbps / 20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377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E697A"/>
                </a:solidFill>
                <a:latin typeface="Calibri"/>
              </a:rPr>
              <a:t>10 Mbps / 20 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257800"/>
            <a:ext cx="26974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257800"/>
            <a:ext cx="73152" cy="1051560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3949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8AA6"/>
                </a:solidFill>
                <a:latin typeface="Calibri"/>
              </a:rPr>
              <a:t>Bottleneck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71500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2 Mbps / 20 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0" y="5257800"/>
            <a:ext cx="26974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74720" y="5257800"/>
            <a:ext cx="73152" cy="1051560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0" y="53949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8AA6"/>
                </a:solidFill>
                <a:latin typeface="Calibri"/>
              </a:rPr>
              <a:t>Access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71500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10 Mbps / 20 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5257800"/>
            <a:ext cx="26974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5257800"/>
            <a:ext cx="73152" cy="1051560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53949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8AA6"/>
                </a:solidFill>
                <a:latin typeface="Calibri"/>
              </a:rPr>
              <a:t>Base RTT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71500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≈ 80 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5257800"/>
            <a:ext cx="26974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0" y="5257800"/>
            <a:ext cx="73152" cy="1051560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53949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8AA6"/>
                </a:solidFill>
                <a:latin typeface="Calibri"/>
              </a:rPr>
              <a:t>BDP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571500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≈ 2,500 bytes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Shared Memory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Why ns-3 and Python must talk at sub-millisecond speed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17 / 27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0876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4572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marT="36576" marB="36576">
                    <a:solidFill>
                      <a:srgbClr val="0B2A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Round-trip Latency</a:t>
                      </a:r>
                    </a:p>
                  </a:txBody>
                  <a:tcPr marL="91440" marR="91440" marT="36576" marB="36576">
                    <a:solidFill>
                      <a:srgbClr val="0B2A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Fit for 10 ms steps</a:t>
                      </a:r>
                    </a:p>
                  </a:txBody>
                  <a:tcPr marL="91440" marR="91440" marT="36576" marB="36576">
                    <a:solidFill>
                      <a:srgbClr val="0B2A4A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252D3A"/>
                          </a:solidFill>
                          <a:latin typeface="Calibri"/>
                        </a:rPr>
                        <a:t>TCP Socket (localhost)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~10 µs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252D3A"/>
                          </a:solidFill>
                          <a:latin typeface="Calibri"/>
                        </a:rPr>
                        <a:t>Marginal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252D3A"/>
                          </a:solidFill>
                          <a:latin typeface="Calibri"/>
                        </a:rPr>
                        <a:t>gRPC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~50 µs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252D3A"/>
                          </a:solidFill>
                          <a:latin typeface="Calibri"/>
                        </a:rPr>
                        <a:t>Acceptable</a:t>
                      </a:r>
                    </a:p>
                  </a:txBody>
                  <a:tcPr marL="91440" marR="91440" marT="36576" marB="36576">
                    <a:solidFill>
                      <a:srgbClr val="E6EAF0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252D3A"/>
                          </a:solidFill>
                          <a:latin typeface="Calibri"/>
                        </a:rPr>
                        <a:t>Shared Memory (ns3-ai)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252D3A"/>
                          </a:solidFill>
                          <a:latin typeface="Calibri"/>
                        </a:rPr>
                        <a:t>~100 ns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F8A4C"/>
                          </a:solidFill>
                          <a:latin typeface="Calibri"/>
                        </a:rPr>
                        <a:t>Optimal  ✓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0" y="1508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7A17"/>
                </a:solidFill>
                <a:latin typeface="Calibri"/>
              </a:rPr>
              <a:t>LOCK-STEP EXCHANGE (every 10 ms)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965960"/>
            <a:ext cx="48463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49440" y="203911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0391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011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C++ writes 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2402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onsolas"/>
              </a:rPr>
              <a:t>struct sTcpRlInferenceEnv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560320"/>
            <a:ext cx="48463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49440" y="263347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633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6060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Python reads obs, runs SAC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8346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onsolas"/>
              </a:rPr>
              <a:t>model.predict(state)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3154680"/>
            <a:ext cx="48463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49440" y="322783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2278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200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Python writes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4290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onsolas"/>
              </a:rPr>
              <a:t>struct TcpRlInferenceAct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3749040"/>
            <a:ext cx="48463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49440" y="382219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8221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7947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C++ reads, updates cwnd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402336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onsolas"/>
              </a:rPr>
              <a:t>tcb-&gt;m_cWnd = new_cwnd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84048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8AA6"/>
                </a:solidFill>
                <a:latin typeface="Calibri"/>
              </a:rPr>
              <a:t>Packed C struct shared with Python (ctypes)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133088"/>
            <a:ext cx="5943600" cy="1993392"/>
          </a:xfrm>
          <a:prstGeom prst="roundRect">
            <a:avLst>
              <a:gd name="adj" fmla="val 12000"/>
            </a:avLst>
          </a:prstGeom>
          <a:solidFill>
            <a:srgbClr val="101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224528"/>
            <a:ext cx="5669280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E6EAF0"/>
                </a:solidFill>
                <a:latin typeface="Consolas"/>
              </a:rPr>
              <a:t>struct sTcpRlInferenceEnv {</a:t>
            </a:r>
          </a:p>
          <a:p>
            <a:r>
              <a:rPr sz="1100">
                <a:solidFill>
                  <a:srgbClr val="E6EAF0"/>
                </a:solidFill>
                <a:latin typeface="Consolas"/>
              </a:rPr>
              <a:t>    uint32_t cWnd;</a:t>
            </a:r>
          </a:p>
          <a:p>
            <a:r>
              <a:rPr sz="1100">
                <a:solidFill>
                  <a:srgbClr val="E6EAF0"/>
                </a:solidFill>
                <a:latin typeface="Consolas"/>
              </a:rPr>
              <a:t>    int64_t  rtt_us;</a:t>
            </a:r>
          </a:p>
          <a:p>
            <a:r>
              <a:rPr sz="1100">
                <a:solidFill>
                  <a:srgbClr val="E6EAF0"/>
                </a:solidFill>
                <a:latin typeface="Consolas"/>
              </a:rPr>
              <a:t>    double   throughput;</a:t>
            </a:r>
          </a:p>
          <a:p>
            <a:r>
              <a:rPr sz="1100">
                <a:solidFill>
                  <a:srgbClr val="E6EAF0"/>
                </a:solidFill>
                <a:latin typeface="Consolas"/>
              </a:rPr>
              <a:t>    uint32_t packetLoss;</a:t>
            </a:r>
          </a:p>
          <a:p>
            <a:r>
              <a:rPr sz="1100">
                <a:solidFill>
                  <a:srgbClr val="E6EAF0"/>
                </a:solidFill>
                <a:latin typeface="Consolas"/>
              </a:rPr>
              <a:t>    uint32_t segmentSize;</a:t>
            </a:r>
          </a:p>
          <a:p>
            <a:r>
              <a:rPr sz="1100">
                <a:solidFill>
                  <a:srgbClr val="E6EAF0"/>
                </a:solidFill>
                <a:latin typeface="Consolas"/>
              </a:rPr>
              <a:t>    uint32_t bytesInFlight;</a:t>
            </a:r>
          </a:p>
          <a:p>
            <a:r>
              <a:rPr sz="1100">
                <a:solidFill>
                  <a:srgbClr val="E6EAF0"/>
                </a:solidFill>
                <a:latin typeface="Consolas"/>
              </a:rPr>
              <a:t>    /* ... */</a:t>
            </a:r>
          </a:p>
          <a:p>
            <a:r>
              <a:rPr sz="1100">
                <a:solidFill>
                  <a:srgbClr val="E6EAF0"/>
                </a:solidFill>
                <a:latin typeface="Consolas"/>
              </a:rPr>
              <a:t>} Packed;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6263640"/>
            <a:ext cx="10972800" cy="50292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62636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Synchronisation: POSIX condition variable → producer-consumer rendezvous every step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Training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Two-phase curriculum with reward refinement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18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5486400" cy="502920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0876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Phase 1 — Initial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51206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Steps: </a:t>
            </a:r>
            <a:r>
              <a:rPr sz="1200">
                <a:solidFill>
                  <a:srgbClr val="252D3A"/>
                </a:solidFill>
                <a:latin typeface="Calibri"/>
              </a:rPr>
              <a:t>2,000,000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RTT penalty: </a:t>
            </a:r>
            <a:r>
              <a:rPr sz="1200">
                <a:solidFill>
                  <a:srgbClr val="252D3A"/>
                </a:solidFill>
                <a:latin typeface="Calibri"/>
              </a:rPr>
              <a:t>linear  (× 12)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Goal: </a:t>
            </a:r>
            <a:r>
              <a:rPr sz="1200">
                <a:solidFill>
                  <a:srgbClr val="252D3A"/>
                </a:solidFill>
                <a:latin typeface="Calibri"/>
              </a:rPr>
              <a:t>learn to maximise throughput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Outcome: </a:t>
            </a:r>
            <a:r>
              <a:rPr sz="1200">
                <a:solidFill>
                  <a:srgbClr val="252D3A"/>
                </a:solidFill>
                <a:latin typeface="Calibri"/>
              </a:rPr>
              <a:t>basic policy that keeps the link busy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50876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508760"/>
            <a:ext cx="5486400" cy="502920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50876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Phase 2 — Fine-Tuning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194560"/>
            <a:ext cx="51206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Steps: </a:t>
            </a:r>
            <a:r>
              <a:rPr sz="1200">
                <a:solidFill>
                  <a:srgbClr val="252D3A"/>
                </a:solidFill>
                <a:latin typeface="Calibri"/>
              </a:rPr>
              <a:t>200,000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RTT penalty: </a:t>
            </a:r>
            <a:r>
              <a:rPr sz="1200">
                <a:solidFill>
                  <a:srgbClr val="252D3A"/>
                </a:solidFill>
                <a:latin typeface="Calibri"/>
              </a:rPr>
              <a:t>quadratic  (× 40)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Goal: </a:t>
            </a:r>
            <a:r>
              <a:rPr sz="1200">
                <a:solidFill>
                  <a:srgbClr val="252D3A"/>
                </a:solidFill>
                <a:latin typeface="Calibri"/>
              </a:rPr>
              <a:t>reduce buffer bloat, stabilise cwnd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8AA6"/>
                </a:solidFill>
                <a:latin typeface="Calibri"/>
              </a:rPr>
              <a:t>●  </a:t>
            </a:r>
            <a:r>
              <a:rPr sz="1200" b="1">
                <a:solidFill>
                  <a:srgbClr val="0B2A4A"/>
                </a:solidFill>
                <a:latin typeface="Calibri"/>
              </a:rPr>
              <a:t>Outcome: </a:t>
            </a:r>
            <a:r>
              <a:rPr sz="1200">
                <a:solidFill>
                  <a:srgbClr val="252D3A"/>
                </a:solidFill>
                <a:latin typeface="Calibri"/>
              </a:rPr>
              <a:t>latency-aware, production-ready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8AA6"/>
                </a:solidFill>
                <a:latin typeface="Calibri"/>
              </a:rPr>
              <a:t>KEY TRAINING HYPER-PARAMETERS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23360"/>
            <a:ext cx="21945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023360"/>
            <a:ext cx="2194560" cy="73152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5E697A"/>
                </a:solidFill>
                <a:latin typeface="Calibri"/>
              </a:rPr>
              <a:t>Learning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3 × 10⁻⁴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4023360"/>
            <a:ext cx="21945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4023360"/>
            <a:ext cx="2194560" cy="73152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4206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5E697A"/>
                </a:solidFill>
                <a:latin typeface="Calibri"/>
              </a:rPr>
              <a:t>Replay buffer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5720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1,000,000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4023360"/>
            <a:ext cx="21945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0" y="4023360"/>
            <a:ext cx="2194560" cy="73152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4206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5E697A"/>
                </a:solidFill>
                <a:latin typeface="Calibri"/>
              </a:rPr>
              <a:t>Batch size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5720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256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4023360"/>
            <a:ext cx="21945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35240" y="4023360"/>
            <a:ext cx="2194560" cy="73152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6680" y="4206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5E697A"/>
                </a:solidFill>
                <a:latin typeface="Calibri"/>
              </a:rPr>
              <a:t>Discount 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80" y="45720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0.99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4023360"/>
            <a:ext cx="21945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66960" y="4023360"/>
            <a:ext cx="2194560" cy="73152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4206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5E697A"/>
                </a:solidFill>
                <a:latin typeface="Calibri"/>
              </a:rPr>
              <a:t>Step interval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5720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10 ms (sim)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394960"/>
            <a:ext cx="10972800" cy="100584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5046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7A17"/>
                </a:solidFill>
                <a:latin typeface="Calibri"/>
              </a:rPr>
              <a:t>WHY TWO PHASES?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77900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FFFFFF"/>
                </a:solidFill>
                <a:latin typeface="Calibri"/>
              </a:rPr>
              <a:t>Phase 1 teaches the agent to USE the link.  Phase 2 teaches it to USE IT GENTLY.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Reproducible head-to-head evaluation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19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7A17"/>
                </a:solidFill>
                <a:latin typeface="Calibri"/>
              </a:rPr>
              <a:t>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8AA6"/>
                </a:solidFill>
                <a:latin typeface="Calibri"/>
              </a:rPr>
              <a:t>●  </a:t>
            </a:r>
            <a:r>
              <a:rPr sz="1300" b="1">
                <a:solidFill>
                  <a:srgbClr val="0B2A4A"/>
                </a:solidFill>
                <a:latin typeface="Calibri"/>
              </a:rPr>
              <a:t>Simulation duration: </a:t>
            </a:r>
            <a:r>
              <a:rPr sz="1300">
                <a:solidFill>
                  <a:srgbClr val="252D3A"/>
                </a:solidFill>
                <a:latin typeface="Calibri"/>
              </a:rPr>
              <a:t>200 seconds per run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8AA6"/>
                </a:solidFill>
                <a:latin typeface="Calibri"/>
              </a:rPr>
              <a:t>●  </a:t>
            </a:r>
            <a:r>
              <a:rPr sz="1300" b="1">
                <a:solidFill>
                  <a:srgbClr val="0B2A4A"/>
                </a:solidFill>
                <a:latin typeface="Calibri"/>
              </a:rPr>
              <a:t>Random seed: </a:t>
            </a:r>
            <a:r>
              <a:rPr sz="1300">
                <a:solidFill>
                  <a:srgbClr val="252D3A"/>
                </a:solidFill>
                <a:latin typeface="Calibri"/>
              </a:rPr>
              <a:t>42  (reproducibility)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8AA6"/>
                </a:solidFill>
                <a:latin typeface="Calibri"/>
              </a:rPr>
              <a:t>●  </a:t>
            </a:r>
            <a:r>
              <a:rPr sz="1300" b="1">
                <a:solidFill>
                  <a:srgbClr val="0B2A4A"/>
                </a:solidFill>
                <a:latin typeface="Calibri"/>
              </a:rPr>
              <a:t>Runs per algorithm: </a:t>
            </a:r>
            <a:r>
              <a:rPr sz="1300">
                <a:solidFill>
                  <a:srgbClr val="252D3A"/>
                </a:solidFill>
                <a:latin typeface="Calibri"/>
              </a:rPr>
              <a:t>3 × averaged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8AA6"/>
                </a:solidFill>
                <a:latin typeface="Calibri"/>
              </a:rPr>
              <a:t>●  </a:t>
            </a:r>
            <a:r>
              <a:rPr sz="1300" b="1">
                <a:solidFill>
                  <a:srgbClr val="0B2A4A"/>
                </a:solidFill>
                <a:latin typeface="Calibri"/>
              </a:rPr>
              <a:t>Metrics captured: </a:t>
            </a:r>
            <a:r>
              <a:rPr sz="1300">
                <a:solidFill>
                  <a:srgbClr val="252D3A"/>
                </a:solidFill>
                <a:latin typeface="Calibri"/>
              </a:rPr>
              <a:t>Throughput, RTT, Loss, Reward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8AA6"/>
                </a:solidFill>
                <a:latin typeface="Calibri"/>
              </a:rPr>
              <a:t>●  </a:t>
            </a:r>
            <a:r>
              <a:rPr sz="1300" b="1">
                <a:solidFill>
                  <a:srgbClr val="0B2A4A"/>
                </a:solidFill>
                <a:latin typeface="Calibri"/>
              </a:rPr>
              <a:t>Sampling rate: </a:t>
            </a:r>
            <a:r>
              <a:rPr sz="1300">
                <a:solidFill>
                  <a:srgbClr val="252D3A"/>
                </a:solidFill>
                <a:latin typeface="Calibri"/>
              </a:rPr>
              <a:t>every 10 ms (SAC), 100 ms (CUBIC)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7A17"/>
                </a:solidFill>
                <a:latin typeface="Calibri"/>
              </a:rPr>
              <a:t>ALGORITHMS COMPARED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20240"/>
            <a:ext cx="5212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920240"/>
            <a:ext cx="91440" cy="64008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933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DRL-SAC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E697A"/>
                </a:solidFill>
                <a:latin typeface="Calibri"/>
              </a:rPr>
              <a:t>Our proposed learning-based controller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651760"/>
            <a:ext cx="5212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651760"/>
            <a:ext cx="91440" cy="640080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7249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TCP CUBIC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175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E697A"/>
                </a:solidFill>
                <a:latin typeface="Calibri"/>
              </a:rPr>
              <a:t>Linux default — cubic growth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383280"/>
            <a:ext cx="5212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383280"/>
            <a:ext cx="91440" cy="6400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4564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TCP NewReno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7490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E697A"/>
                </a:solidFill>
                <a:latin typeface="Calibri"/>
              </a:rPr>
              <a:t>Classical AIMD baseline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114800"/>
            <a:ext cx="5212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114800"/>
            <a:ext cx="91440" cy="640080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18795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TCP BBR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4805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E697A"/>
                </a:solidFill>
                <a:latin typeface="Calibri"/>
              </a:rPr>
              <a:t>Google's model-based controller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257800"/>
            <a:ext cx="10972800" cy="114300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76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8AA6"/>
                </a:solidFill>
                <a:latin typeface="Calibri"/>
              </a:rPr>
              <a:t>EVALUATION SCENARIOS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50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①  Baseline (no packet loss)       ②  With 0.1 % random packet loss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D4F5"/>
                </a:solidFill>
                <a:latin typeface="Calibri"/>
              </a:rPr>
              <a:t>Same topology, same traffic pattern — only the congestion-control algorithm changes.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Live Dashboard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Real-time monitoring of SAC and CUBIC side by side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20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109728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0E8A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E8AA6"/>
                </a:solidFill>
                <a:latin typeface="Calibri"/>
              </a:rPr>
              <a:t>🖼   PASTE DASHBOARD SCREENSHOT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E697A"/>
                </a:solidFill>
                <a:latin typeface="Calibri"/>
              </a:rPr>
              <a:t>(right-click → Change Picture)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E697A"/>
                </a:solidFill>
                <a:latin typeface="Calibri"/>
              </a:rPr>
              <a:t>⌘  Replace this placeholder with a screenshot of the running dashboard.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Live Dashboard — SAC vs CUBIC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Throughput, RTT and cwnd trajectories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21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109728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0E8A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E8AA6"/>
                </a:solidFill>
                <a:latin typeface="Calibri"/>
              </a:rPr>
              <a:t>🖼   PASTE DASHBOARD SCREENSHOT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E697A"/>
                </a:solidFill>
                <a:latin typeface="Calibri"/>
              </a:rPr>
              <a:t>(right-click → Change Picture)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E697A"/>
                </a:solidFill>
                <a:latin typeface="Calibri"/>
              </a:rPr>
              <a:t>⌘  Replace this placeholder with a screenshot of the running dashboard.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One purpose-built tool per layer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22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55778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109728" cy="141732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737360"/>
            <a:ext cx="960120" cy="960120"/>
          </a:xfrm>
          <a:prstGeom prst="roundRect">
            <a:avLst>
              <a:gd name="adj" fmla="val 12000"/>
            </a:avLst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37360"/>
            <a:ext cx="9601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73736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8AA6"/>
                </a:solidFill>
                <a:latin typeface="Calibri"/>
              </a:rPr>
              <a:t>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011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ns-3 (C++)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39572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E697A"/>
                </a:solidFill>
                <a:latin typeface="Calibri"/>
              </a:rPr>
              <a:t>Packet-level network simulation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508760"/>
            <a:ext cx="55778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508760"/>
            <a:ext cx="109728" cy="14173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9400" y="1737360"/>
            <a:ext cx="960120" cy="960120"/>
          </a:xfrm>
          <a:prstGeom prst="roundRect">
            <a:avLst>
              <a:gd name="adj" fmla="val 12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737360"/>
            <a:ext cx="9601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173736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8AA6"/>
                </a:solidFill>
                <a:latin typeface="Calibri"/>
              </a:rPr>
              <a:t>IPC Bridge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011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ns3-ai (shared memory)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39572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E697A"/>
                </a:solidFill>
                <a:latin typeface="Calibri"/>
              </a:rPr>
              <a:t>Sub-millisecond C++ ↔ Python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063240"/>
            <a:ext cx="55778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063240"/>
            <a:ext cx="109728" cy="14173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3291840"/>
            <a:ext cx="960120" cy="96012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291840"/>
            <a:ext cx="9601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2918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8AA6"/>
                </a:solidFill>
                <a:latin typeface="Calibri"/>
              </a:rPr>
              <a:t>RL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35661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Python + stable-baselines3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39502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E697A"/>
                </a:solidFill>
                <a:latin typeface="Calibri"/>
              </a:rPr>
              <a:t>SAC model training &amp; inference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063240"/>
            <a:ext cx="55778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3063240"/>
            <a:ext cx="109728" cy="1417320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29400" y="3291840"/>
            <a:ext cx="960120" cy="960120"/>
          </a:xfrm>
          <a:prstGeom prst="roundRect">
            <a:avLst>
              <a:gd name="adj" fmla="val 12000"/>
            </a:avLst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291840"/>
            <a:ext cx="9601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2918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8AA6"/>
                </a:solidFill>
                <a:latin typeface="Calibri"/>
              </a:rPr>
              <a:t>Backend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5661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Spring Boot + H2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9502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E697A"/>
                </a:solidFill>
                <a:latin typeface="Calibri"/>
              </a:rPr>
              <a:t>REST API, persistence, broadcasting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617720"/>
            <a:ext cx="55778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4617720"/>
            <a:ext cx="109728" cy="1417320"/>
          </a:xfrm>
          <a:prstGeom prst="rect">
            <a:avLst/>
          </a:prstGeom>
          <a:solidFill>
            <a:srgbClr val="61D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4400" y="4846320"/>
            <a:ext cx="960120" cy="960120"/>
          </a:xfrm>
          <a:prstGeom prst="roundRect">
            <a:avLst>
              <a:gd name="adj" fmla="val 12000"/>
            </a:avLst>
          </a:prstGeom>
          <a:solidFill>
            <a:srgbClr val="61D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846320"/>
            <a:ext cx="9601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48463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8AA6"/>
                </a:solidFill>
                <a:latin typeface="Calibri"/>
              </a:rPr>
              <a:t>Frontend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51206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React + Recharts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50468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E697A"/>
                </a:solidFill>
                <a:latin typeface="Calibri"/>
              </a:rPr>
              <a:t>Live visualisation components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4617720"/>
            <a:ext cx="55778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5080" y="4617720"/>
            <a:ext cx="109728" cy="141732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29400" y="4846320"/>
            <a:ext cx="960120" cy="960120"/>
          </a:xfrm>
          <a:prstGeom prst="roundRect">
            <a:avLst>
              <a:gd name="adj" fmla="val 12000"/>
            </a:avLst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4846320"/>
            <a:ext cx="9601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48463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8AA6"/>
                </a:solidFill>
                <a:latin typeface="Calibri"/>
              </a:rPr>
              <a:t>Realtime Protocol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51206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STOMP over WebSocket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550468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E697A"/>
                </a:solidFill>
                <a:latin typeface="Calibri"/>
              </a:rPr>
              <a:t>Pub / sub streaming to the browser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Key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What this project uniquely delivers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23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109728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664208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6420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6276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End-to-End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94767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Working SAC ↔ ns-3 pipeline via ns3-ai shared memory at 10 ms steps.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109728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624328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2432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5877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Two-Phase Training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907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Initial throughput-focused training followed by latency-focused fine-tuning.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29000"/>
            <a:ext cx="109728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3584448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844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54787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Loss-Robust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86791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Learns to distinguish congestion loss from random loss — a capability that classical algorithms lack.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389120"/>
            <a:ext cx="109728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4544568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54456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50799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Full-Stack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82803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Spring Boot backend + React dashboard stream live metrics for both SAC and CUBIC side-by-side.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349240"/>
            <a:ext cx="109728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" y="5504688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50468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46811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Reproducible Research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78815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Fixed seeds, documented hyper-parameters, and a consistent comparison framework.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Honest account of what this system does not yet solve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24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91440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⚠  Single Topology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031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Trained only on a 2 Mbps / 80 ms dumbbell — generalisation to other networks is untested.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0876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508760"/>
            <a:ext cx="91440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⚠  Multi-Flow Fairness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031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Behaviour against many competing flows has not been systematically evaluated.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6324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063240"/>
            <a:ext cx="91440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⚠  Residual Bufferbloat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6576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RTT is still slightly above the physical baseline under heavy load.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06324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063240"/>
            <a:ext cx="91440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246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⚠  Simulation-Only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6576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The agent has not been validated on a real Linux kernel or hardware NIC.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1772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617720"/>
            <a:ext cx="91440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00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⚠  Hand-Tuned Reward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21208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Reward coefficients are fixed constants chosen by the authors, not learned.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61772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4617720"/>
            <a:ext cx="91440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800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⚠  No Online Adaptation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21208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52D3A"/>
                </a:solidFill>
                <a:latin typeface="Calibri"/>
              </a:rPr>
              <a:t>Inference uses a frozen model — it cannot self-correct after deployment-time drift.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Short-term improvements and long-term research directions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25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548640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5486400" cy="50292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Immediate Improvements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286000"/>
            <a:ext cx="4937760" cy="105156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231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▸ Diverse topologies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889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E697A"/>
                </a:solidFill>
                <a:latin typeface="Calibri"/>
              </a:rPr>
              <a:t>Train across varying bandwidth, delay, queue sizes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520440"/>
            <a:ext cx="4937760" cy="105156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657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▸ Multi-flow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2336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E697A"/>
                </a:solidFill>
                <a:latin typeface="Calibri"/>
              </a:rPr>
              <a:t>Quantify fairness vs BBRv2, CUBIC, Reno mixes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754880"/>
            <a:ext cx="4937760" cy="105156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892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▸ Real traces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5780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E697A"/>
                </a:solidFill>
                <a:latin typeface="Calibri"/>
              </a:rPr>
              <a:t>Replay captured WAN / 4G packet traces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508760"/>
            <a:ext cx="548640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1508760"/>
            <a:ext cx="5486400" cy="502920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150876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Advanced Research Extensions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2286000"/>
            <a:ext cx="4937760" cy="77724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23774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▸ Recurrent / Transformer 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6700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E697A"/>
                </a:solidFill>
                <a:latin typeface="Calibri"/>
              </a:rPr>
              <a:t>Capture long-range temporal patterns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3200400"/>
            <a:ext cx="4937760" cy="77724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3291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▸ Curriculum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5844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E697A"/>
                </a:solidFill>
                <a:latin typeface="Calibri"/>
              </a:rPr>
              <a:t>Easy networks first, then harder ones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4114800"/>
            <a:ext cx="4937760" cy="77724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▸ Safe RL constraints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4988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E697A"/>
                </a:solidFill>
                <a:latin typeface="Calibri"/>
              </a:rPr>
              <a:t>Bound worst-case RTT during exploration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0840" y="5029200"/>
            <a:ext cx="4937760" cy="77724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5120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Calibri"/>
              </a:rPr>
              <a:t>▸ Linux kernel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54132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E697A"/>
                </a:solidFill>
                <a:latin typeface="Calibri"/>
              </a:rPr>
              <a:t>Export via eBPF / TCP_CONG hook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A4A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8AA6"/>
                </a:solidFill>
                <a:latin typeface="Calibri"/>
              </a:rPr>
              <a:t>What we demonstrated and why it matters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01400" cy="0"/>
          </a:xfrm>
          <a:prstGeom prst="line">
            <a:avLst/>
          </a:prstGeom>
          <a:ln w="15875">
            <a:solidFill>
              <a:srgbClr val="E6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97A"/>
                </a:solidFill>
                <a:latin typeface="Calibri"/>
              </a:rPr>
              <a:t>Adaptive TCP Congestion Control using Deep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97A"/>
                </a:solidFill>
                <a:latin typeface="Calibri"/>
              </a:rPr>
              <a:t>26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10972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91440" cy="777240"/>
          </a:xfrm>
          <a:prstGeom prst="rect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69164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6916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70992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52D3A"/>
                </a:solidFill>
                <a:latin typeface="Calibri"/>
              </a:rPr>
              <a:t>Deep Reinforcement Learning is a viable approach for TCP congestion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77440"/>
            <a:ext cx="10972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77440"/>
            <a:ext cx="91440" cy="777240"/>
          </a:xfrm>
          <a:prstGeom prst="rect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256032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5603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57860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52D3A"/>
                </a:solidFill>
                <a:latin typeface="Calibri"/>
              </a:rPr>
              <a:t>A Soft Actor-Critic policy can match or exceed classical algorithms in normal conditions.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10972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246120"/>
            <a:ext cx="91440" cy="777240"/>
          </a:xfrm>
          <a:prstGeom prst="rect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342900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4290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44728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52D3A"/>
                </a:solidFill>
                <a:latin typeface="Calibri"/>
              </a:rPr>
              <a:t>The learned policy is significantly more robust when random packet loss is present.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114800"/>
            <a:ext cx="10972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114800"/>
            <a:ext cx="91440" cy="777240"/>
          </a:xfrm>
          <a:prstGeom prst="rect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429768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297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3159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52D3A"/>
                </a:solidFill>
                <a:latin typeface="Calibri"/>
              </a:rPr>
              <a:t>The agent learned to distinguish random loss from congestion — something classical algorithms cannot 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394960"/>
            <a:ext cx="10972800" cy="109728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4864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7A17"/>
                </a:solidFill>
                <a:latin typeface="Calibri"/>
              </a:rPr>
              <a:t>BOTTOM 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607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FFFFFF"/>
                </a:solidFill>
                <a:latin typeface="Calibri"/>
              </a:rPr>
              <a:t>Learning-based congestion control can adapt to network diversity that classical algorithms were never designed for.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B8D4F5"/>
                </a:solidFill>
                <a:latin typeface="Calibri"/>
              </a:rPr>
              <a:t>Questions, critique, and discussion are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8AA6"/>
                </a:solidFill>
                <a:latin typeface="Calibri"/>
              </a:rPr>
              <a:t>Adaptive TCP Congestion Control using Deep Reinforcement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30352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73152" cy="2468880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8AA6"/>
                </a:solidFill>
                <a:latin typeface="Calibri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● Jewel Bhannvadiya  (CE-065)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● Archi Patel  (CE-087)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● Henil Suchak  (CE-148)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77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E697A"/>
                </a:solidFill>
                <a:latin typeface="Calibri"/>
              </a:rPr>
              <a:t>Guided by Prof. Bhavika M. Gambhava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57600"/>
            <a:ext cx="5303520" cy="2468880"/>
          </a:xfrm>
          <a:prstGeom prst="roundRect">
            <a:avLst>
              <a:gd name="adj" fmla="val 12000"/>
            </a:avLst>
          </a:prstGeom>
          <a:solidFill>
            <a:srgbClr val="0E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657600"/>
            <a:ext cx="5303520" cy="2468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